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635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1" userDrawn="1">
          <p15:clr>
            <a:srgbClr val="A4A3A4"/>
          </p15:clr>
        </p15:guide>
        <p15:guide id="2" pos="38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081"/>
        <p:guide pos="38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945" y="1279525"/>
            <a:ext cx="614176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150" y="1322962"/>
            <a:ext cx="91449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150" y="3602038"/>
            <a:ext cx="91449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64" y="258445"/>
            <a:ext cx="10516635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64" y="1825625"/>
            <a:ext cx="10516635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31" y="469127"/>
            <a:ext cx="10308942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32" y="4610028"/>
            <a:ext cx="10308941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64" y="258445"/>
            <a:ext cx="10516635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64" y="1825625"/>
            <a:ext cx="518211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2289" y="1825625"/>
            <a:ext cx="518211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365125"/>
            <a:ext cx="10516635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871" y="1744961"/>
            <a:ext cx="515829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871" y="2615609"/>
            <a:ext cx="5158295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808" y="1744961"/>
            <a:ext cx="518369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808" y="2615609"/>
            <a:ext cx="518369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83" y="2766219"/>
            <a:ext cx="10516635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811" y="127000"/>
            <a:ext cx="416561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510" y="766354"/>
            <a:ext cx="5817948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91" y="2057400"/>
            <a:ext cx="416561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5451" y="365125"/>
            <a:ext cx="1529467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83" y="365125"/>
            <a:ext cx="8880832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83" y="551543"/>
            <a:ext cx="10516635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83" y="365125"/>
            <a:ext cx="105166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83" y="1825625"/>
            <a:ext cx="105166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83" y="6356350"/>
            <a:ext cx="274347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998" y="6356350"/>
            <a:ext cx="41152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448" y="6356350"/>
            <a:ext cx="274347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197485" y="859155"/>
            <a:ext cx="7604125" cy="459295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57530" y="1030605"/>
            <a:ext cx="989965" cy="421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Ingest</a:t>
            </a:r>
            <a:endParaRPr lang="en-US" altLang="zh-CN" b="1"/>
          </a:p>
        </p:txBody>
      </p:sp>
      <p:sp>
        <p:nvSpPr>
          <p:cNvPr id="7" name="流程图: 可选过程 6"/>
          <p:cNvSpPr/>
          <p:nvPr/>
        </p:nvSpPr>
        <p:spPr>
          <a:xfrm>
            <a:off x="749300" y="4209415"/>
            <a:ext cx="1332230" cy="598805"/>
          </a:xfrm>
          <a:prstGeom prst="flowChartAlternateProcess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Video Encoder</a:t>
            </a:r>
            <a:endParaRPr lang="en-US" altLang="zh-CN"/>
          </a:p>
        </p:txBody>
      </p:sp>
      <p:pic>
        <p:nvPicPr>
          <p:cNvPr id="8" name="图片 7" descr="2155620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9030" y="1451610"/>
            <a:ext cx="598805" cy="598805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>
            <a:off x="1415415" y="2244725"/>
            <a:ext cx="0" cy="1899920"/>
          </a:xfrm>
          <a:prstGeom prst="straightConnector1">
            <a:avLst/>
          </a:prstGeom>
          <a:ln w="31750">
            <a:gradFill>
              <a:gsLst>
                <a:gs pos="0">
                  <a:prstClr val="black">
                    <a:hueOff val="-4200000"/>
                  </a:prstClr>
                </a:gs>
                <a:gs pos="100000">
                  <a:prstClr val="black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" name="图片 12" descr="202102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7725" y="2374265"/>
            <a:ext cx="443230" cy="443230"/>
          </a:xfrm>
          <a:prstGeom prst="rect">
            <a:avLst/>
          </a:prstGeom>
        </p:spPr>
      </p:pic>
      <p:pic>
        <p:nvPicPr>
          <p:cNvPr id="15" name="图片 14" descr="202102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7725" y="2879090"/>
            <a:ext cx="443230" cy="443230"/>
          </a:xfrm>
          <a:prstGeom prst="rect">
            <a:avLst/>
          </a:prstGeom>
        </p:spPr>
      </p:pic>
      <p:pic>
        <p:nvPicPr>
          <p:cNvPr id="16" name="图片 15" descr="20210218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7725" y="3383915"/>
            <a:ext cx="443230" cy="443230"/>
          </a:xfrm>
          <a:prstGeom prst="rect">
            <a:avLst/>
          </a:prstGeom>
        </p:spPr>
      </p:pic>
      <p:sp>
        <p:nvSpPr>
          <p:cNvPr id="18" name="流程图: 可选过程 17"/>
          <p:cNvSpPr/>
          <p:nvPr/>
        </p:nvSpPr>
        <p:spPr>
          <a:xfrm>
            <a:off x="5347970" y="4209415"/>
            <a:ext cx="1332230" cy="598805"/>
          </a:xfrm>
          <a:prstGeom prst="flowChartAlternateProcess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FEC Encoder</a:t>
            </a:r>
            <a:endParaRPr lang="en-US" altLang="zh-CN"/>
          </a:p>
        </p:txBody>
      </p:sp>
      <p:sp>
        <p:nvSpPr>
          <p:cNvPr id="19" name="流程图: 可选过程 18"/>
          <p:cNvSpPr/>
          <p:nvPr/>
        </p:nvSpPr>
        <p:spPr>
          <a:xfrm>
            <a:off x="5347970" y="1645920"/>
            <a:ext cx="1332230" cy="598805"/>
          </a:xfrm>
          <a:prstGeom prst="flowChartAlternateProcess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Network Monitor</a:t>
            </a:r>
            <a:endParaRPr lang="en-US" altLang="zh-CN"/>
          </a:p>
        </p:txBody>
      </p:sp>
      <p:sp>
        <p:nvSpPr>
          <p:cNvPr id="20" name="流程图: 可选过程 19"/>
          <p:cNvSpPr/>
          <p:nvPr/>
        </p:nvSpPr>
        <p:spPr>
          <a:xfrm>
            <a:off x="1997710" y="2817495"/>
            <a:ext cx="1332230" cy="598805"/>
          </a:xfrm>
          <a:prstGeom prst="flowChartAlternateProcess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Rate Controller</a:t>
            </a:r>
            <a:endParaRPr lang="en-US" altLang="zh-CN"/>
          </a:p>
        </p:txBody>
      </p:sp>
      <p:sp>
        <p:nvSpPr>
          <p:cNvPr id="21" name="流程图: 可选过程 20"/>
          <p:cNvSpPr/>
          <p:nvPr/>
        </p:nvSpPr>
        <p:spPr>
          <a:xfrm>
            <a:off x="3699510" y="2817495"/>
            <a:ext cx="1332230" cy="598805"/>
          </a:xfrm>
          <a:prstGeom prst="flowChartAlternateProcess">
            <a:avLst/>
          </a:prstGeom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Decision Maker</a:t>
            </a:r>
            <a:endParaRPr lang="en-US" altLang="zh-CN"/>
          </a:p>
        </p:txBody>
      </p:sp>
      <p:cxnSp>
        <p:nvCxnSpPr>
          <p:cNvPr id="22" name="肘形连接符 21"/>
          <p:cNvCxnSpPr>
            <a:endCxn id="20" idx="0"/>
          </p:cNvCxnSpPr>
          <p:nvPr/>
        </p:nvCxnSpPr>
        <p:spPr>
          <a:xfrm rot="10800000" flipV="1">
            <a:off x="2663190" y="1941195"/>
            <a:ext cx="2658745" cy="876300"/>
          </a:xfrm>
          <a:prstGeom prst="bentConnector2">
            <a:avLst/>
          </a:prstGeom>
          <a:ln w="31750" cap="rnd">
            <a:solidFill>
              <a:schemeClr val="accent5"/>
            </a:solidFill>
            <a:prstDash val="sysDot"/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21" idx="0"/>
          </p:cNvCxnSpPr>
          <p:nvPr/>
        </p:nvCxnSpPr>
        <p:spPr>
          <a:xfrm>
            <a:off x="4365625" y="1967230"/>
            <a:ext cx="0" cy="850265"/>
          </a:xfrm>
          <a:prstGeom prst="straightConnector1">
            <a:avLst/>
          </a:prstGeom>
          <a:ln w="31750" cap="rnd">
            <a:solidFill>
              <a:schemeClr val="accent5"/>
            </a:solidFill>
            <a:prstDash val="sysDot"/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肘形连接符 23"/>
          <p:cNvCxnSpPr>
            <a:stCxn id="20" idx="1"/>
          </p:cNvCxnSpPr>
          <p:nvPr/>
        </p:nvCxnSpPr>
        <p:spPr>
          <a:xfrm rot="10800000" flipV="1">
            <a:off x="1732280" y="3117215"/>
            <a:ext cx="265430" cy="1027430"/>
          </a:xfrm>
          <a:prstGeom prst="bentConnector2">
            <a:avLst/>
          </a:prstGeom>
          <a:ln w="31750">
            <a:gradFill>
              <a:gsLst>
                <a:gs pos="0">
                  <a:schemeClr val="accent2">
                    <a:hueOff val="-4200000"/>
                  </a:schemeClr>
                </a:gs>
                <a:gs pos="100000">
                  <a:schemeClr val="accent2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21" idx="3"/>
            <a:endCxn id="18" idx="0"/>
          </p:cNvCxnSpPr>
          <p:nvPr/>
        </p:nvCxnSpPr>
        <p:spPr>
          <a:xfrm>
            <a:off x="5031740" y="3117215"/>
            <a:ext cx="982345" cy="1092200"/>
          </a:xfrm>
          <a:prstGeom prst="bentConnector2">
            <a:avLst/>
          </a:prstGeom>
          <a:ln w="31750">
            <a:gradFill>
              <a:gsLst>
                <a:gs pos="0">
                  <a:schemeClr val="accent2">
                    <a:hueOff val="-4200000"/>
                  </a:schemeClr>
                </a:gs>
                <a:gs pos="100000">
                  <a:schemeClr val="accent2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7" idx="3"/>
            <a:endCxn id="18" idx="1"/>
          </p:cNvCxnSpPr>
          <p:nvPr/>
        </p:nvCxnSpPr>
        <p:spPr>
          <a:xfrm>
            <a:off x="2081530" y="4509135"/>
            <a:ext cx="3266440" cy="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endCxn id="21" idx="2"/>
          </p:cNvCxnSpPr>
          <p:nvPr/>
        </p:nvCxnSpPr>
        <p:spPr>
          <a:xfrm flipV="1">
            <a:off x="4365625" y="3416300"/>
            <a:ext cx="0" cy="1031875"/>
          </a:xfrm>
          <a:prstGeom prst="straightConnector1">
            <a:avLst/>
          </a:prstGeom>
          <a:ln w="31750" cap="rnd">
            <a:solidFill>
              <a:schemeClr val="accent5"/>
            </a:solidFill>
            <a:prstDash val="sysDot"/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圆角矩形 27"/>
          <p:cNvSpPr/>
          <p:nvPr/>
        </p:nvSpPr>
        <p:spPr>
          <a:xfrm>
            <a:off x="9298940" y="859155"/>
            <a:ext cx="2684145" cy="459295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9564370" y="1157605"/>
            <a:ext cx="989965" cy="421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Client</a:t>
            </a:r>
            <a:endParaRPr lang="en-US" altLang="zh-CN" b="1"/>
          </a:p>
        </p:txBody>
      </p:sp>
      <p:cxnSp>
        <p:nvCxnSpPr>
          <p:cNvPr id="30" name="直接箭头连接符 29"/>
          <p:cNvCxnSpPr/>
          <p:nvPr/>
        </p:nvCxnSpPr>
        <p:spPr>
          <a:xfrm>
            <a:off x="6760845" y="4509135"/>
            <a:ext cx="2428240" cy="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流程图: 可选过程 30"/>
          <p:cNvSpPr/>
          <p:nvPr/>
        </p:nvSpPr>
        <p:spPr>
          <a:xfrm>
            <a:off x="9975850" y="4209415"/>
            <a:ext cx="1332230" cy="598805"/>
          </a:xfrm>
          <a:prstGeom prst="flowChartAlternateProcess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Buffer</a:t>
            </a:r>
            <a:endParaRPr lang="en-US" altLang="zh-CN"/>
          </a:p>
        </p:txBody>
      </p:sp>
      <p:sp>
        <p:nvSpPr>
          <p:cNvPr id="32" name="流程图: 可选过程 31"/>
          <p:cNvSpPr/>
          <p:nvPr/>
        </p:nvSpPr>
        <p:spPr>
          <a:xfrm>
            <a:off x="9975850" y="3016885"/>
            <a:ext cx="1332230" cy="598805"/>
          </a:xfrm>
          <a:prstGeom prst="flowChartAlternateProcess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FEC Decoder</a:t>
            </a:r>
            <a:endParaRPr lang="en-US" altLang="zh-CN"/>
          </a:p>
        </p:txBody>
      </p:sp>
      <p:sp>
        <p:nvSpPr>
          <p:cNvPr id="33" name="流程图: 可选过程 32"/>
          <p:cNvSpPr/>
          <p:nvPr/>
        </p:nvSpPr>
        <p:spPr>
          <a:xfrm>
            <a:off x="9975850" y="1824355"/>
            <a:ext cx="1332230" cy="598805"/>
          </a:xfrm>
          <a:prstGeom prst="flowChartAlternateProcess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Video Decoder</a:t>
            </a:r>
            <a:endParaRPr lang="en-US" altLang="zh-CN"/>
          </a:p>
        </p:txBody>
      </p:sp>
      <p:cxnSp>
        <p:nvCxnSpPr>
          <p:cNvPr id="34" name="直接箭头连接符 33"/>
          <p:cNvCxnSpPr/>
          <p:nvPr/>
        </p:nvCxnSpPr>
        <p:spPr>
          <a:xfrm flipH="1">
            <a:off x="6706235" y="1967230"/>
            <a:ext cx="2496185" cy="0"/>
          </a:xfrm>
          <a:prstGeom prst="straightConnector1">
            <a:avLst/>
          </a:prstGeom>
          <a:ln w="31750" cap="rnd">
            <a:solidFill>
              <a:schemeClr val="accent5"/>
            </a:solidFill>
            <a:prstDash val="sysDot"/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1078230" y="5798185"/>
            <a:ext cx="772160" cy="0"/>
          </a:xfrm>
          <a:prstGeom prst="straightConnector1">
            <a:avLst/>
          </a:prstGeom>
          <a:ln w="31750" cap="rnd">
            <a:solidFill>
              <a:schemeClr val="accent5"/>
            </a:solidFill>
            <a:prstDash val="sysDot"/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1895475" y="5618480"/>
            <a:ext cx="1434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Feedback</a:t>
            </a:r>
            <a:endParaRPr lang="en-US" altLang="zh-CN"/>
          </a:p>
        </p:txBody>
      </p:sp>
      <p:cxnSp>
        <p:nvCxnSpPr>
          <p:cNvPr id="37" name="直接箭头连接符 36"/>
          <p:cNvCxnSpPr/>
          <p:nvPr/>
        </p:nvCxnSpPr>
        <p:spPr>
          <a:xfrm>
            <a:off x="3592830" y="5798185"/>
            <a:ext cx="772160" cy="0"/>
          </a:xfrm>
          <a:prstGeom prst="straightConnector1">
            <a:avLst/>
          </a:prstGeom>
          <a:ln w="31750">
            <a:gradFill>
              <a:gsLst>
                <a:gs pos="0">
                  <a:prstClr val="black">
                    <a:hueOff val="-4200000"/>
                  </a:prstClr>
                </a:gs>
                <a:gs pos="100000">
                  <a:prstClr val="black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4364990" y="5601970"/>
            <a:ext cx="1434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Data</a:t>
            </a:r>
            <a:endParaRPr lang="en-US" altLang="zh-CN"/>
          </a:p>
        </p:txBody>
      </p:sp>
      <p:cxnSp>
        <p:nvCxnSpPr>
          <p:cNvPr id="40" name="直接箭头连接符 39"/>
          <p:cNvCxnSpPr/>
          <p:nvPr/>
        </p:nvCxnSpPr>
        <p:spPr>
          <a:xfrm>
            <a:off x="5471795" y="5798185"/>
            <a:ext cx="772160" cy="0"/>
          </a:xfrm>
          <a:prstGeom prst="straightConnector1">
            <a:avLst/>
          </a:prstGeom>
          <a:ln w="31750">
            <a:gradFill>
              <a:gsLst>
                <a:gs pos="0">
                  <a:schemeClr val="accent2">
                    <a:hueOff val="-4200000"/>
                  </a:schemeClr>
                </a:gs>
                <a:gs pos="100000">
                  <a:schemeClr val="accent2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6272530" y="5601970"/>
            <a:ext cx="1434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Control</a:t>
            </a:r>
            <a:endParaRPr lang="en-US" altLang="zh-CN"/>
          </a:p>
        </p:txBody>
      </p:sp>
      <p:cxnSp>
        <p:nvCxnSpPr>
          <p:cNvPr id="42" name="直接箭头连接符 41"/>
          <p:cNvCxnSpPr>
            <a:stCxn id="31" idx="0"/>
            <a:endCxn id="32" idx="2"/>
          </p:cNvCxnSpPr>
          <p:nvPr/>
        </p:nvCxnSpPr>
        <p:spPr>
          <a:xfrm flipV="1">
            <a:off x="10641965" y="3615690"/>
            <a:ext cx="0" cy="593725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V="1">
            <a:off x="10641965" y="2423160"/>
            <a:ext cx="0" cy="593725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1290955" y="2372995"/>
            <a:ext cx="530225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1</a:t>
            </a:r>
            <a:endParaRPr lang="en-US" altLang="zh-CN" b="1"/>
          </a:p>
        </p:txBody>
      </p:sp>
      <p:sp>
        <p:nvSpPr>
          <p:cNvPr id="45" name="文本框 44"/>
          <p:cNvSpPr txBox="1"/>
          <p:nvPr/>
        </p:nvSpPr>
        <p:spPr>
          <a:xfrm>
            <a:off x="4100195" y="1581150"/>
            <a:ext cx="530225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2</a:t>
            </a:r>
            <a:endParaRPr lang="en-US" altLang="zh-CN" b="1"/>
          </a:p>
        </p:txBody>
      </p:sp>
      <p:sp>
        <p:nvSpPr>
          <p:cNvPr id="46" name="文本框 45"/>
          <p:cNvSpPr txBox="1"/>
          <p:nvPr/>
        </p:nvSpPr>
        <p:spPr>
          <a:xfrm>
            <a:off x="4100195" y="4570095"/>
            <a:ext cx="530225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2</a:t>
            </a:r>
            <a:endParaRPr lang="en-US" altLang="zh-CN" b="1"/>
          </a:p>
        </p:txBody>
      </p:sp>
      <p:sp>
        <p:nvSpPr>
          <p:cNvPr id="47" name="文本框 46"/>
          <p:cNvSpPr txBox="1"/>
          <p:nvPr/>
        </p:nvSpPr>
        <p:spPr>
          <a:xfrm>
            <a:off x="8173720" y="4570095"/>
            <a:ext cx="530225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4</a:t>
            </a:r>
            <a:endParaRPr lang="en-US" altLang="zh-CN" b="1"/>
          </a:p>
        </p:txBody>
      </p:sp>
      <p:sp>
        <p:nvSpPr>
          <p:cNvPr id="48" name="文本框 47"/>
          <p:cNvSpPr txBox="1"/>
          <p:nvPr/>
        </p:nvSpPr>
        <p:spPr>
          <a:xfrm>
            <a:off x="8173720" y="2035810"/>
            <a:ext cx="530225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5</a:t>
            </a:r>
            <a:endParaRPr lang="en-US" altLang="zh-CN" b="1"/>
          </a:p>
        </p:txBody>
      </p:sp>
      <p:sp>
        <p:nvSpPr>
          <p:cNvPr id="49" name="文本框 48"/>
          <p:cNvSpPr txBox="1"/>
          <p:nvPr/>
        </p:nvSpPr>
        <p:spPr>
          <a:xfrm>
            <a:off x="1634490" y="3556000"/>
            <a:ext cx="530225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3</a:t>
            </a:r>
            <a:endParaRPr lang="en-US" altLang="zh-CN" b="1"/>
          </a:p>
        </p:txBody>
      </p:sp>
      <p:sp>
        <p:nvSpPr>
          <p:cNvPr id="51" name="文本框 50"/>
          <p:cNvSpPr txBox="1"/>
          <p:nvPr/>
        </p:nvSpPr>
        <p:spPr>
          <a:xfrm>
            <a:off x="5593080" y="3556000"/>
            <a:ext cx="530225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3</a:t>
            </a:r>
            <a:endParaRPr lang="en-US" altLang="zh-CN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</Words>
  <Application>WPS 文字</Application>
  <PresentationFormat>宽屏</PresentationFormat>
  <Paragraphs>40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关月</cp:lastModifiedBy>
  <cp:revision>17</cp:revision>
  <dcterms:created xsi:type="dcterms:W3CDTF">2025-08-24T08:16:53Z</dcterms:created>
  <dcterms:modified xsi:type="dcterms:W3CDTF">2025-08-24T08:16:53Z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2052-6.2.0.8299</vt:lpwstr>
  </property>
  <property fmtid="{D5CDD505-2E9C-101B-9397-08002B2CF9AE}" pid="3" name="ICV">
    <vt:lpwstr>8DC77F10CF655C03C8AAA9685634AE3C_41</vt:lpwstr>
  </property>
</Properties>
</file>